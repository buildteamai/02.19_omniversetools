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BuildTeamAI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76B900"/>
                </a:solidFill>
                <a:latin typeface="Segoe UI"/>
              </a:defRPr>
            </a:pPr>
            <a:r>
              <a:t>The Physics Engine for the Built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00000"/>
            <a:ext cx="20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00000"/>
            <a:ext cx="9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proprietary mathematical system that derives geometry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from first-principles physics and engineering law.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Not another CAD tool. Not generative AI. Mathematics.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Executive Vision  |  March 2026  |  NVIDIA Omniverse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Broken Paradigm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0000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Engineering design has not fundamentally changed in 40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00000"/>
            <a:ext cx="3200000" cy="34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4400" y="1820000"/>
            <a:ext cx="600000" cy="30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4400" y="1920000"/>
            <a:ext cx="28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Traditional CAD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4400" y="2400000"/>
            <a:ext cx="284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Engineers manually author geometry</a:t>
            </a:r>
            <a:br/>
            <a:r>
              <a:t>point by point, surface by surface.</a:t>
            </a:r>
            <a:br/>
            <a:br/>
            <a:r>
              <a:t>The knowledge lives in the</a:t>
            </a:r>
            <a:br/>
            <a:r>
              <a:t>engineer’s head. The file is</a:t>
            </a:r>
            <a:br/>
            <a:r>
              <a:t>just a recording.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4400" y="1700000"/>
            <a:ext cx="3200000" cy="34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44400" y="1820000"/>
            <a:ext cx="600000" cy="3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4400" y="1920000"/>
            <a:ext cx="28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Generative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4400" y="2400000"/>
            <a:ext cx="284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Promising demonstrations.</a:t>
            </a:r>
            <a:br/>
            <a:r>
              <a:t>Unreliable execution.</a:t>
            </a:r>
            <a:br/>
            <a:br/>
            <a:r>
              <a:t>No traceability. No engineering</a:t>
            </a:r>
            <a:br/>
            <a:r>
              <a:t>validity. A guess that looks</a:t>
            </a:r>
            <a:br/>
            <a:r>
              <a:t>plausible but cannot be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4400" y="1700000"/>
            <a:ext cx="3200000" cy="34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4400" y="1820000"/>
            <a:ext cx="600000" cy="3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4400" y="1920000"/>
            <a:ext cx="28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BIM / Data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4400" y="2400000"/>
            <a:ext cx="284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Labels on geometry, not</a:t>
            </a:r>
            <a:br/>
            <a:r>
              <a:t>understanding of geometry.</a:t>
            </a:r>
            <a:br/>
            <a:br/>
            <a:r>
              <a:t>A wall is a ‘wall’ because</a:t>
            </a:r>
            <a:br/>
            <a:r>
              <a:t>someone tagged it, not because</a:t>
            </a:r>
            <a:br/>
            <a:r>
              <a:t>the math says so.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00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common failure: geometry is the INPUT.</a:t>
            </a:r>
            <a:br/>
            <a:r>
              <a:t>We believe geometry should be the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Paradigm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0000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6B900"/>
                </a:solidFill>
                <a:latin typeface="Segoe UI"/>
              </a:defRPr>
            </a:pPr>
            <a:r>
              <a:t>Physics  +  Engineering Law  + 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000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= Geometry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0" y="2300000"/>
            <a:ext cx="5000000" cy="24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0000"/>
            <a:ext cx="103632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fan’s scroll housing is not drawn. It is the solution to the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fluid continuity equation: A(θ) = A_outlet × (θ / 2π)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beam’s cross-section is not modeled. It is selected by solving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moment of inertia equation against the load path.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building’s HVAC layout is not arranged. It is derived from the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thermal load distribution and pressure drop network.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76B900"/>
                </a:solidFill>
                <a:latin typeface="Segoe UI"/>
              </a:defRPr>
            </a:pPr>
            <a:r>
              <a:t>Every dimension has a provenance. Every shape has a reason.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Mathematical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200000"/>
            <a:ext cx="54000" cy="900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000" y="12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15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Graph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0" y="1200000"/>
            <a:ext cx="6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What exists and how it connects.</a:t>
            </a:r>
            <a:br/>
            <a:r>
              <a:t>Components, machines, systems, buildings</a:t>
            </a:r>
            <a:br/>
            <a:r>
              <a:t>as nodes and typed edges in a directed graph.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00000"/>
            <a:ext cx="54000" cy="900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0000" y="25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Segoe UI"/>
              </a:defRPr>
            </a:pPr>
            <a:r>
              <a:t>GOVERNING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00" y="28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Calculus &amp; Physics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000" y="2500000"/>
            <a:ext cx="6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The laws that determine shape and size.</a:t>
            </a:r>
            <a:br/>
            <a:r>
              <a:t>Fluid dynamics, structural mechanics,</a:t>
            </a:r>
            <a:br/>
            <a:r>
              <a:t>thermodynamics — encoded as solvers.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00000"/>
            <a:ext cx="54000" cy="90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0000" y="38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Segoe UI"/>
              </a:defRPr>
            </a:pPr>
            <a:r>
              <a:t>CONSTRAINT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00" y="41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Algebraic Geometry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000" y="3800000"/>
            <a:ext cx="6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The rules that make a configuration valid.</a:t>
            </a:r>
            <a:br/>
            <a:r>
              <a:t>Solving simultaneous equations guarantees</a:t>
            </a:r>
            <a:br/>
            <a:r>
              <a:t>physically correct assemblies.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100000"/>
            <a:ext cx="54000" cy="90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0000" y="51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TRANSFORMATION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00" y="54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Group Theory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0000" y="5100000"/>
            <a:ext cx="6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Symmetries that generate variants.</a:t>
            </a:r>
            <a:br/>
            <a:r>
              <a:t>Up-blast, down-blast, horizontal —</a:t>
            </a:r>
            <a:br/>
            <a:r>
              <a:t>same math, different boundary 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One System, Every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0000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The same mathematical structures apply from a bolt to a city.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00000"/>
            <a:ext cx="1900000" cy="4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48000"/>
            <a:ext cx="1900000" cy="36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4400" y="1900000"/>
            <a:ext cx="166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00" y="2300000"/>
            <a:ext cx="166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Bolt, blade, bearing,</a:t>
            </a:r>
            <a:br/>
            <a:r>
              <a:t>flange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00" y="3600000"/>
            <a:ext cx="800000" cy="12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4400" y="3800000"/>
            <a:ext cx="16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Stress equations</a:t>
            </a:r>
            <a:br/>
            <a:r>
              <a:t>Material properties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4400" y="1700000"/>
            <a:ext cx="1900000" cy="4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14400" y="1748000"/>
            <a:ext cx="1900000" cy="36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4400" y="1900000"/>
            <a:ext cx="166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Segoe UI"/>
              </a:defRPr>
            </a:pPr>
            <a:r>
              <a:t>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4400" y="2300000"/>
            <a:ext cx="166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Fan, pump, conveyor,</a:t>
            </a:r>
            <a:br/>
            <a:r>
              <a:t>robot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4400" y="3600000"/>
            <a:ext cx="800000" cy="12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34400" y="3800000"/>
            <a:ext cx="16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Performance curves</a:t>
            </a:r>
            <a:br/>
            <a:r>
              <a:t>Fluid / mechanical law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4400" y="1700000"/>
            <a:ext cx="1900000" cy="4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14400" y="1748000"/>
            <a:ext cx="1900000" cy="36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4400" y="1900000"/>
            <a:ext cx="166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Segoe UI"/>
              </a:defRPr>
            </a:pPr>
            <a:r>
              <a:t>CELL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4400" y="2300000"/>
            <a:ext cx="166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Paint booth, weld station,</a:t>
            </a:r>
            <a:br/>
            <a:r>
              <a:t>assembly 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4400" y="3600000"/>
            <a:ext cx="800000" cy="12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4400" y="3800000"/>
            <a:ext cx="16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Process flow</a:t>
            </a:r>
            <a:br/>
            <a:r>
              <a:t>Environmental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14400" y="1700000"/>
            <a:ext cx="1900000" cy="4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214400" y="1748000"/>
            <a:ext cx="1900000" cy="36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34400" y="1900000"/>
            <a:ext cx="166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400" y="2300000"/>
            <a:ext cx="166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Factory, warehouse,</a:t>
            </a:r>
            <a:br/>
            <a:r>
              <a:t>data center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4400" y="3600000"/>
            <a:ext cx="800000" cy="12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34400" y="3800000"/>
            <a:ext cx="16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Structural load paths</a:t>
            </a:r>
            <a:br/>
            <a:r>
              <a:t>Utility networks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4400" y="1700000"/>
            <a:ext cx="1900000" cy="48000"/>
          </a:xfrm>
          <a:prstGeom prst="rect">
            <a:avLst/>
          </a:prstGeom>
          <a:solidFill>
            <a:srgbClr val="B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314400" y="1748000"/>
            <a:ext cx="1900000" cy="36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34400" y="1900000"/>
            <a:ext cx="166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66FF"/>
                </a:solidFill>
                <a:latin typeface="Segoe UI"/>
              </a:defRPr>
            </a:pPr>
            <a:r>
              <a:t>SITE / 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4400" y="2300000"/>
            <a:ext cx="166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Campus, district,</a:t>
            </a:r>
            <a:br/>
            <a:r>
              <a:t>infrastructure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34400" y="3600000"/>
            <a:ext cx="800000" cy="12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4400" y="3800000"/>
            <a:ext cx="16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Logistics</a:t>
            </a:r>
            <a:br/>
            <a:r>
              <a:t>Terrain, zoning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00000"/>
            <a:ext cx="103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Each level inherits boundary conditions from above. Constraints cascade downward.</a:t>
            </a:r>
            <a:br/>
            <a:r>
              <a:t>Function determines form at every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Variants From Mathematics, Not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0000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One centrifugal fan. Infinite configurations. Zero templates.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00000"/>
            <a:ext cx="4800000" cy="42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000" y="1900000"/>
            <a:ext cx="4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Segoe UI"/>
              </a:defRPr>
            </a:pPr>
            <a:r>
              <a:t>THE INVARIANT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2300000"/>
            <a:ext cx="4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Topology: wheel + shaft + housing + motor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Performance: 10,000 CFM @ 2" SP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Continuity: A(θ) = A_out × θ/2π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Euler: ΔP = ρ U₂ Cθ2 − ρ U₁ Cθ1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Similarity: Q ∝ N D³</a:t>
            </a:r>
          </a:p>
          <a:p>
            <a:pPr>
              <a:spcAft>
                <a:spcPts val="50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The physics does not change.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The equations do not change.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The topology does not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0" y="1800000"/>
            <a:ext cx="5200000" cy="42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0" y="1900000"/>
            <a:ext cx="4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THE VARIANTS (boundary conditions)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235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Up-blast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0000" y="23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Rotate discharge +Y, gravity opposed</a:t>
            </a:r>
            <a:br/>
            <a:r>
              <a:t>Add drain, curb cap, weather 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303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Down-blast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0000" y="303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Rotate discharge -Y, gravity assisted</a:t>
            </a:r>
            <a:br/>
            <a:r>
              <a:t>Add inlet hood, condensation mgmt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71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Horizontal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0000" y="371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Discharge along +X</a:t>
            </a:r>
            <a:br/>
            <a:r>
              <a:t>Standard base, side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0000" y="439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Belt drive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0000" y="439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Motor offset +Z from wheel axis</a:t>
            </a:r>
            <a:br/>
            <a:r>
              <a:t>Belt guard on +Z 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000" y="507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Belt drive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0000" y="507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Mirror motor across symmetry plane</a:t>
            </a:r>
            <a:br/>
            <a:r>
              <a:t>Belt guard follows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NVIDIA Omniverse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0000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This system needs a platform built for physics. Omniverse is that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00000"/>
            <a:ext cx="54000" cy="850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000" y="17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USD as Universal Scene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" y="20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Our mathematical objects serialize natively to USD prims with full metadata.</a:t>
            </a:r>
            <a:br/>
            <a:r>
              <a:t>Every parameter, equation reference, and constraint stored as scene data.</a:t>
            </a:r>
            <a:br/>
            <a:r>
              <a:t>The geometry carries its own engineering DNA.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50000"/>
            <a:ext cx="54000" cy="850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0000" y="28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GPU-Accelerated 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32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Real-time constraint solving and physics simulation on NVIDIA hardware.</a:t>
            </a:r>
            <a:br/>
            <a:r>
              <a:t>Change a CFM requirement — watch the entire facility re-derive in real time.</a:t>
            </a:r>
            <a:br/>
            <a:r>
              <a:t>PhysX and Warp for structural, thermal, and fluid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00000"/>
            <a:ext cx="54000" cy="850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0000" y="40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Collaborative Digital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4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Multiple engineers, same live scene, same mathematical truth.</a:t>
            </a:r>
            <a:br/>
            <a:r>
              <a:t>Structural changes propagate to MEP. MEP propagates to architectural.</a:t>
            </a:r>
            <a:br/>
            <a:r>
              <a:t>One model. One source of truth. Physically consistent by construction.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150000"/>
            <a:ext cx="54000" cy="85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0000" y="51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Ecosystem and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55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Connectors to every major tool in AEC and manufacturing.</a:t>
            </a:r>
            <a:br/>
            <a:r>
              <a:t>Nucleus for enterprise deployment. Cloud for global collaboration.</a:t>
            </a:r>
            <a:br/>
            <a:r>
              <a:t>The platform scales from a single machine to a facility to a 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00000"/>
            <a:ext cx="103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Proprietary mathematical formalism is not something you clone from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6B900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2000000"/>
            <a:ext cx="9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Encoded Engineering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0" y="235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Decades of engineering correlations, performance curves, and physical laws</a:t>
            </a:r>
            <a:br/>
            <a:r>
              <a:t>translated into a computable mathematical system. Domain expertise</a:t>
            </a:r>
            <a:br/>
            <a:r>
              <a:t>rendered as software — it cannot be replicated without the same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0000"/>
            <a:ext cx="58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6B900"/>
                </a:solidFill>
                <a:latin typeface="Segoe UI Light"/>
              </a:defRPr>
            </a:pPr>
            <a:r>
              <a:rPr dirty="0"/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000" y="3100000"/>
            <a:ext cx="9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Correct by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000" y="345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Every output is traceable to physics. No black boxes. No hallucinations.</a:t>
            </a:r>
            <a:br/>
            <a:r>
              <a:t>When a customer asks 'why is this 24 inches?' the system answers with</a:t>
            </a:r>
            <a:br/>
            <a:r>
              <a:t>the equation, the inputs, and the engineering standard that governs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0000"/>
            <a:ext cx="58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6B900"/>
                </a:solidFill>
                <a:latin typeface="Segoe UI Light"/>
              </a:defRPr>
            </a:pPr>
            <a:r>
              <a:rPr dirty="0"/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0000" y="4200000"/>
            <a:ext cx="9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Compounding 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0000" y="455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Each new equipment class increases the value of every other class.</a:t>
            </a:r>
            <a:br/>
            <a:r>
              <a:t>A fan connects to ductwork connects to structure connects to building.</a:t>
            </a:r>
            <a:br/>
            <a:r>
              <a:t>The network effect is mathematical.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0000"/>
            <a:ext cx="58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6B900"/>
                </a:solidFill>
                <a:latin typeface="Segoe UI Light"/>
              </a:defRPr>
            </a:pPr>
            <a:r>
              <a:rPr dirty="0"/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0000" y="5300000"/>
            <a:ext cx="9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Verification is Built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0000" y="565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Competitors can generate geometry. Only this system can prove it is correct.</a:t>
            </a:r>
            <a:br/>
            <a:r>
              <a:t>Every dimension has provenance. Every assembly satisfies its constraints.</a:t>
            </a:r>
            <a:br/>
            <a:r>
              <a:t>This is auditable engineering, not artistic approximation.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Crossing the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0000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A phased approach grounded in engineering reality, not hype.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00" y="1700000"/>
            <a:ext cx="2500000" cy="38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00" y="1700000"/>
            <a:ext cx="2500000" cy="4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000" y="1850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000" y="22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" y="2700000"/>
            <a:ext cx="2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Structural steel + MEP primitives</a:t>
            </a:r>
            <a:br/>
            <a:r>
              <a:t>Constraint validation framework</a:t>
            </a:r>
            <a:br/>
            <a:r>
              <a:t>Anchor-based assembly system</a:t>
            </a:r>
            <a:br/>
            <a:r>
              <a:t>Proven on NVIDIA Omniverse / 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00" y="51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B900"/>
                </a:solidFill>
                <a:latin typeface="Segoe UI"/>
              </a:defRPr>
            </a:pPr>
            <a:r>
              <a:t>PROVEN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0000" y="1700000"/>
            <a:ext cx="2500000" cy="38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40000" y="1700000"/>
            <a:ext cx="2500000" cy="4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0000" y="1850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0000" y="22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Industrial Equipment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0000" y="2700000"/>
            <a:ext cx="2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Fans, pumps, conveyors, vessels</a:t>
            </a:r>
            <a:br/>
            <a:r>
              <a:t>Physics-derived geometry engine</a:t>
            </a:r>
            <a:br/>
            <a:r>
              <a:t>Variant generation from</a:t>
            </a:r>
            <a:br/>
            <a:r>
              <a:t>boundary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0000" y="51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BUILDING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40000" y="1700000"/>
            <a:ext cx="2500000" cy="38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40000" y="1700000"/>
            <a:ext cx="2500000" cy="4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000" y="1850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000" y="22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Facility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000" y="2700000"/>
            <a:ext cx="2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Process flow to spatial layout</a:t>
            </a:r>
            <a:br/>
            <a:r>
              <a:t>Utility network auto-routing</a:t>
            </a:r>
            <a:br/>
            <a:r>
              <a:t>Structural system generation</a:t>
            </a:r>
            <a:br/>
            <a:r>
              <a:t>Full facility from functional spec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000" y="51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40000" y="1700000"/>
            <a:ext cx="2500000" cy="380000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40000" y="1700000"/>
            <a:ext cx="2500000" cy="48000"/>
          </a:xfrm>
          <a:prstGeom prst="rect">
            <a:avLst/>
          </a:prstGeom>
          <a:solidFill>
            <a:srgbClr val="B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0000" y="1850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66FF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22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Urban and Beyond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2700000"/>
            <a:ext cx="2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Building to site to district</a:t>
            </a:r>
            <a:br/>
            <a:r>
              <a:t>Infrastructure networks</a:t>
            </a:r>
            <a:br/>
            <a:r>
              <a:t>Terrain-aware placement</a:t>
            </a:r>
            <a:br/>
            <a:r>
              <a:t>City-scale digital twin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51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66FF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00000"/>
            <a:ext cx="1036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Each phase builds the equation library. Each equation compounds the value of the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0" y="1200000"/>
            <a:ext cx="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88"/>
                </a:solidFill>
                <a:latin typeface="Segoe UI"/>
              </a:defRPr>
            </a:pPr>
            <a:r>
              <a:t>Traditional</a:t>
            </a:r>
            <a:br/>
            <a:r>
              <a:t>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0000" y="1200000"/>
            <a:ext cx="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88"/>
                </a:solidFill>
                <a:latin typeface="Segoe UI"/>
              </a:defRPr>
            </a:pPr>
            <a:r>
              <a:t>Generative</a:t>
            </a:r>
            <a:br/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1200000"/>
            <a:ext cx="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88"/>
                </a:solidFill>
                <a:latin typeface="Segoe UI"/>
              </a:defRPr>
            </a:pPr>
            <a:r>
              <a:t>BIM</a:t>
            </a:r>
            <a:br/>
            <a:r>
              <a:t>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0000" y="1200000"/>
            <a:ext cx="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6B900"/>
                </a:solidFill>
                <a:latin typeface="Segoe UI"/>
              </a:defRPr>
            </a:pPr>
            <a:r>
              <a:t>BuildTeamAI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50000"/>
            <a:ext cx="9500000" cy="400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Physics-derived 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000" y="19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0000" y="19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19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0000" y="19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Every dimension 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000" y="23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0000" y="23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000" y="23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0000" y="23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750000"/>
            <a:ext cx="9500000" cy="400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8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Infinite variants from math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000" y="28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0000" y="28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28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0000" y="28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25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Engineering verification built-in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32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0000" y="32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0000" y="32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0000" y="32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650000"/>
            <a:ext cx="9500000" cy="400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7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Real-time parametric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000" y="37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00000" y="37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0000" y="37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0000" y="37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15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No per-seat CAD license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000" y="41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0000" y="41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0000" y="41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0000" y="41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550000"/>
            <a:ext cx="9500000" cy="400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46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Scale: component to 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000" y="46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0000" y="46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0000" y="46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0000" y="460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05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Collaborative (multi-user)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000" y="50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0000" y="50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3333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0000" y="50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0000" y="50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6B900"/>
                </a:solidFill>
                <a:latin typeface="Segoe U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50000"/>
            <a:ext cx="1500000" cy="36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00000"/>
            <a:ext cx="10363200" cy="428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An engineer describes a function.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spcAft>
                <a:spcPts val="700"/>
              </a:spcAft>
              <a:defRPr sz="2200" b="1">
                <a:solidFill>
                  <a:srgbClr val="76B900"/>
                </a:solidFill>
                <a:latin typeface="Segoe UI"/>
              </a:defRPr>
            </a:pPr>
            <a:r>
              <a:rPr dirty="0"/>
              <a:t>The system solves for the geometry.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spcAft>
                <a:spcPts val="700"/>
              </a:spcAft>
              <a:defRPr sz="2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Every surface is a solution to an equation.</a:t>
            </a:r>
          </a:p>
          <a:p>
            <a:pPr>
              <a:spcAft>
                <a:spcPts val="700"/>
              </a:spcAft>
              <a:defRPr sz="2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Every assembly satisfies its constraints.</a:t>
            </a:r>
          </a:p>
          <a:p>
            <a:pPr>
              <a:spcAft>
                <a:spcPts val="700"/>
              </a:spcAft>
              <a:defRPr sz="2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Every building is physically consistent.</a:t>
            </a:r>
          </a:p>
          <a:p>
            <a:pPr>
              <a:spcAft>
                <a:spcPts val="700"/>
              </a:spcAft>
              <a:defRPr sz="2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Every city is a network of solved systems.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This is not incremental improvement.</a:t>
            </a:r>
          </a:p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This is a new foundation for engineering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7933"/>
            <a:ext cx="103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rPr dirty="0"/>
              <a:t>Built on NVIDIA Omniverse. Powered by mathematics.</a:t>
            </a:r>
            <a:br>
              <a:rPr dirty="0"/>
            </a:br>
            <a:r>
              <a:rPr dirty="0"/>
              <a:t>Ready for the industries that build the world.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0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BuildTeamAI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0000"/>
            <a:ext cx="103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76B900"/>
                </a:solidFill>
                <a:latin typeface="Segoe UI"/>
              </a:defRPr>
            </a:pPr>
            <a:r>
              <a:t>The Physics Engine for the Built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000"/>
            <a:ext cx="2000000" cy="30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00000"/>
            <a:ext cx="103632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CCCCCC"/>
                </a:solidFill>
                <a:latin typeface="Segoe UI"/>
              </a:defRPr>
            </a:pPr>
            <a:r>
              <a:t>We are not building another CAD tool.</a:t>
            </a:r>
          </a:p>
          <a:p>
            <a:pPr>
              <a:spcAft>
                <a:spcPts val="700"/>
              </a:spcAft>
              <a:defRPr sz="2000" b="0">
                <a:solidFill>
                  <a:srgbClr val="CCCCCC"/>
                </a:solidFill>
                <a:latin typeface="Segoe UI"/>
              </a:defRPr>
            </a:pPr>
            <a:r>
              <a:t>We are not chasing generative AI hype.</a:t>
            </a:r>
          </a:p>
          <a:p>
            <a:pPr>
              <a:spcAft>
                <a:spcPts val="7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We are building the mathematical engine that makes</a:t>
            </a:r>
          </a:p>
          <a:p>
            <a:pPr>
              <a:spcAft>
                <a:spcPts val="700"/>
              </a:spcAft>
              <a:defRPr sz="2000" b="1">
                <a:solidFill>
                  <a:srgbClr val="76B900"/>
                </a:solidFill>
                <a:latin typeface="Segoe UI"/>
              </a:defRPr>
            </a:pPr>
            <a:r>
              <a:t>geometry a consequence of physics.</a:t>
            </a:r>
          </a:p>
          <a:p>
            <a:pPr>
              <a:spcAft>
                <a:spcPts val="7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Let’s build this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BuildTeamAI  |  NVIDIA Omniverse Partner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</Words>
  <Application>Microsoft Office PowerPoint</Application>
  <PresentationFormat>Widescreen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Bragg, Kent</cp:lastModifiedBy>
  <cp:revision>2</cp:revision>
  <dcterms:created xsi:type="dcterms:W3CDTF">2013-01-27T09:14:16Z</dcterms:created>
  <dcterms:modified xsi:type="dcterms:W3CDTF">2026-03-01T20:16:16Z</dcterms:modified>
  <cp:category/>
</cp:coreProperties>
</file>