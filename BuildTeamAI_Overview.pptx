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Segoe UI"/>
              </a:defRPr>
            </a:pPr>
            <a:r>
              <a:t>BuildTeamAI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0">
                <a:solidFill>
                  <a:srgbClr val="76B900"/>
                </a:solidFill>
                <a:latin typeface="Segoe UI"/>
              </a:defRPr>
            </a:pPr>
            <a:r>
              <a:t>Industrial Digital Twin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566160"/>
            <a:ext cx="27432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BBBBCC"/>
                </a:solidFill>
                <a:latin typeface="Segoe UI"/>
              </a:defRPr>
            </a:pPr>
            <a:r>
              <a:t>Parametric 3D geometry for industrial facilities</a:t>
            </a:r>
          </a:p>
          <a:p>
            <a:pPr algn="l">
              <a:spcAft>
                <a:spcPts val="1000"/>
              </a:spcAft>
              <a:defRPr sz="2000">
                <a:solidFill>
                  <a:srgbClr val="BBBBCC"/>
                </a:solidFill>
                <a:latin typeface="Segoe UI"/>
              </a:defRPr>
            </a:pPr>
            <a:r>
              <a:t>Built on NVIDIA Omniverse  •  USD-native pipeline</a:t>
            </a:r>
          </a:p>
          <a:p>
            <a:pPr algn="l">
              <a:spcAft>
                <a:spcPts val="1000"/>
              </a:spcAft>
              <a:defRPr sz="2000">
                <a:solidFill>
                  <a:srgbClr val="BBBBCC"/>
                </a:solidFill>
                <a:latin typeface="Segoe UI"/>
              </a:defRPr>
            </a:pPr>
            <a:r>
              <a:t>From manufacturer specs to digital twin — no CAD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Segoe UI"/>
              </a:defRPr>
            </a:pPr>
            <a:r>
              <a:t>Technical Overview  •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97480" cy="256032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697480" cy="54864"/>
          </a:xfrm>
          <a:prstGeom prst="rect">
            <a:avLst/>
          </a:prstGeom>
          <a:solidFill>
            <a:srgbClr val="FF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Heavy CAD 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240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Revit, SolidWorks, AutoCAD licenses</a:t>
            </a:r>
          </a:p>
          <a:p>
            <a:pPr algn="l">
              <a:spcAft>
                <a:spcPts val="4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per seat — expensive and siloed</a:t>
            </a:r>
          </a:p>
          <a:p>
            <a:pPr algn="l">
              <a:spcAft>
                <a:spcPts val="4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Files are rigid, hard to parameterize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54480"/>
            <a:ext cx="2697480" cy="256032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554480"/>
            <a:ext cx="269748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73736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Manual Modeling 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48840"/>
            <a:ext cx="2240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Each equipment piece modeled by hand</a:t>
            </a:r>
          </a:p>
          <a:p>
            <a:pPr algn="l">
              <a:spcAft>
                <a:spcPts val="4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Change a dimension? Start over</a:t>
            </a:r>
          </a:p>
          <a:p>
            <a:pPr algn="l">
              <a:spcAft>
                <a:spcPts val="4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Weeks of work for facility layouts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54480"/>
            <a:ext cx="2697480" cy="256032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554480"/>
            <a:ext cx="2697480" cy="54864"/>
          </a:xfrm>
          <a:prstGeom prst="rect">
            <a:avLst/>
          </a:prstGeom>
          <a:solidFill>
            <a:srgbClr val="AA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73736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Fragmented 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48840"/>
            <a:ext cx="2240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Structural, MEP, architecture in</a:t>
            </a:r>
          </a:p>
          <a:p>
            <a:pPr algn="l">
              <a:spcAft>
                <a:spcPts val="4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separate tools with separate formats</a:t>
            </a:r>
          </a:p>
          <a:p>
            <a:pPr algn="l">
              <a:spcAft>
                <a:spcPts val="4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No single source of truth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554480"/>
            <a:ext cx="2697480" cy="256032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554480"/>
            <a:ext cx="2697480" cy="54864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73736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No Parametric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148840"/>
            <a:ext cx="2240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Imported geometry is dead mesh</a:t>
            </a:r>
          </a:p>
          <a:p>
            <a:pPr algn="l">
              <a:spcAft>
                <a:spcPts val="4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Can't regenerate from specifications</a:t>
            </a:r>
          </a:p>
          <a:p>
            <a:pPr algn="l">
              <a:spcAft>
                <a:spcPts val="4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t>No metadata for BOM or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11064240" cy="182880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463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FF5555"/>
                </a:solidFill>
                <a:latin typeface="Segoe UI"/>
              </a:defRPr>
            </a:pPr>
            <a:r>
              <a:t>$8K+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949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Avg. annual CAD license cost / seat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8463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FF9900"/>
                </a:solidFill>
                <a:latin typeface="Segoe UI"/>
              </a:defRPr>
            </a:pPr>
            <a:r>
              <a:t>4-6 wks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3949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Typical facility model turnaround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8463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AA77FF"/>
                </a:solidFill>
                <a:latin typeface="Segoe UI"/>
              </a:defRPr>
            </a:pPr>
            <a:r>
              <a:t>3-5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3949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Required for full facility coverage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76B900"/>
                </a:solidFill>
                <a:latin typeface="Segoe UI"/>
              </a:defRPr>
            </a:pPr>
            <a:r>
              <a:t>Spec Sheet  →  Construction Algorithm  →  USD Digital Twin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2926080" cy="201168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286000"/>
            <a:ext cx="457200" cy="45720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86000"/>
            <a:ext cx="192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Manufacturer</a:t>
            </a:r>
            <a:br/>
            <a:r>
              <a:t>Specification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JSON data, AISC tables,</a:t>
            </a:r>
            <a:br/>
            <a:r>
              <a:t>datasheet parameters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31920" y="2926080"/>
            <a:ext cx="548640" cy="36576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2103120"/>
            <a:ext cx="2926080" cy="201168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286000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2860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286000"/>
            <a:ext cx="192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Parametric</a:t>
            </a:r>
            <a:br/>
            <a:r>
              <a:t>Generator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10896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build123d B-Rep kernel</a:t>
            </a:r>
            <a:br/>
            <a:r>
              <a:t>creates solid geometry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589520" y="2926080"/>
            <a:ext cx="548640" cy="365760"/>
          </a:xfrm>
          <a:prstGeom prst="rightArrow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2103120"/>
            <a:ext cx="2926080" cy="201168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0" y="2286000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2860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286000"/>
            <a:ext cx="192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USD Scene</a:t>
            </a:r>
            <a:br/>
            <a:r>
              <a:t>on Omniverse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10896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Meshes, materials, metadata</a:t>
            </a:r>
            <a:br/>
            <a:r>
              <a:t>ready for collaboration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72000"/>
            <a:ext cx="11064240" cy="192024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76B900"/>
                </a:solidFill>
                <a:latin typeface="Segoe UI"/>
              </a:defRPr>
            </a:pPr>
            <a:r>
              <a:t>Zero CAD licenses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Generate geometry directly</a:t>
            </a:r>
            <a:br/>
            <a:r>
              <a:t>from specs — no imports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7548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76B900"/>
                </a:solidFill>
                <a:latin typeface="Segoe UI"/>
              </a:defRPr>
            </a:pPr>
            <a:r>
              <a:t>Fully parametric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12064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Change a number,</a:t>
            </a:r>
            <a:br/>
            <a:r>
              <a:t>regenerate instantly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548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76B900"/>
                </a:solidFill>
                <a:latin typeface="Segoe UI"/>
              </a:defRPr>
            </a:pPr>
            <a:r>
              <a:t>USD-native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12064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Real-time collaboration</a:t>
            </a:r>
            <a:br/>
            <a:r>
              <a:t>in NVIDIA Omniverse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7548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76B900"/>
                </a:solidFill>
                <a:latin typeface="Segoe UI"/>
              </a:defRPr>
            </a:pPr>
            <a:r>
              <a:t>Engineering-grade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12064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B-Rep solid modeling,</a:t>
            </a:r>
            <a:br/>
            <a:r>
              <a:t>not mesh approximations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Platform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772400" cy="777240"/>
          </a:xfrm>
          <a:prstGeom prst="roundRect">
            <a:avLst/>
          </a:prstGeom>
          <a:solidFill>
            <a:srgbClr val="33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4475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Omniverse Kit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5564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Real-time 3D viewport, physics, rendering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2148840"/>
            <a:ext cx="320040" cy="109728"/>
          </a:xfrm>
          <a:prstGeom prst="down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7772400" cy="77724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BuildTeamAI Extension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7004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UI windows, equipment catalog, tools menu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389120" y="3063240"/>
            <a:ext cx="320040" cy="109728"/>
          </a:xfrm>
          <a:prstGeom prst="down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7772400" cy="777240"/>
          </a:xfrm>
          <a:prstGeom prst="roundRect">
            <a:avLst/>
          </a:prstGeom>
          <a:solidFill>
            <a:srgbClr val="2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7355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Object Generators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8444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Structural  •  MEP  •  Components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389120" y="3977640"/>
            <a:ext cx="320040" cy="109728"/>
          </a:xfrm>
          <a:prstGeom prst="down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7772400" cy="777240"/>
          </a:xfrm>
          <a:prstGeom prst="round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8795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build123d CAD Kernel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9884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B-Rep solid modeling (OpenCascade)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389120" y="4892040"/>
            <a:ext cx="320040" cy="109728"/>
          </a:xfrm>
          <a:prstGeom prst="down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5029200"/>
            <a:ext cx="7772400" cy="777240"/>
          </a:xfrm>
          <a:prstGeom prst="roundRect">
            <a:avLst/>
          </a:prstGeom>
          <a:solidFill>
            <a:srgbClr val="3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10235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USD Stage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1324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Meshes  •  Materials  •  Metadata  •  Mating 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371600"/>
            <a:ext cx="2743200" cy="91440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4630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BCD4"/>
                </a:solidFill>
                <a:latin typeface="Segoe UI"/>
              </a:defRPr>
            </a:pPr>
            <a:r>
              <a:t>Import / 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STEP, OBJ, FBX, glTF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2514600"/>
            <a:ext cx="2743200" cy="91440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6060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TripoSR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971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Image → 3D mesh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3657600"/>
            <a:ext cx="2743200" cy="91440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AA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37490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AA77FF"/>
                </a:solidFill>
                <a:latin typeface="Segoe UI"/>
              </a:defRPr>
            </a:pPr>
            <a:r>
              <a:t>Frame Solver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Structural assembly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4800600"/>
            <a:ext cx="2743200" cy="91440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48920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Segoe UI"/>
              </a:defRPr>
            </a:pPr>
            <a:r>
              <a:t>Mating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257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Port-based connections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Structural Steel Library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19456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Wide Flange Beams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Full AISC W-beam catalog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Data-driven from specification database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Any section generated on demand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Real cross-section profiles, not boxes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03520" cy="219456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303520" cy="54864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5544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Channels &amp; HSS Tubes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96596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C-channels with real flange geometry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Hollow structural sections (square/rect)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Parametric wall thickness and dimensions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Standard sizing from steel tables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303520" cy="219456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53035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233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Frame Solver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3484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Define members by start/end points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Auto-orient along member vectors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Generate connections at joints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Complete frame as USD hierarchy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5303520" cy="219456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840480"/>
            <a:ext cx="5303520" cy="54864"/>
          </a:xfrm>
          <a:prstGeom prst="rect">
            <a:avLst/>
          </a:prstGeom>
          <a:solidFill>
            <a:srgbClr val="AA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0233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Strongbacks &amp; Connections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3484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Support structures for MEP systems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Bolted / welded connection details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Parametric plate and gusset geometry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Integrated with mating port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09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F9900"/>
                </a:solidFill>
                <a:latin typeface="Segoe UI"/>
              </a:defRPr>
            </a:pPr>
            <a:r>
              <a:t>All geometry from AISC specification data — zero pre-modeled assets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MEP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Segoe UI"/>
              </a:defRPr>
            </a:pPr>
            <a:r>
              <a:t>Mechanical  •  Electrical  •  Plumbing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3444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611880" cy="256032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61188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Ductwork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3154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Parametric duct runs with transitions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Round and rectangular cross-sections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Automatic sheet metal thickness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Reducer/expander transitions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611880" cy="256032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3611880" cy="54864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Trapeze Hangers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48840"/>
            <a:ext cx="3154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Support systems for ducts and pipes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Configurable span, rod diameter, channel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Auto-sized to carried load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Mating ports for beam attachment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611880" cy="256032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361188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73736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Piping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48840"/>
            <a:ext cx="3154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Parametric pipe runs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Standard nominal pipe sizes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Elbow and tee fittings</a:t>
            </a:r>
          </a:p>
          <a:p>
            <a:pPr algn="l">
              <a:spcAft>
                <a:spcPts val="4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t>Material and schedule selection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11064240" cy="201168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074920"/>
            <a:ext cx="457200" cy="45720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0292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Select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39496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Duct, pipe,</a:t>
            </a:r>
            <a:br/>
            <a:r>
              <a:t>or hanger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246120" y="5166360"/>
            <a:ext cx="320040" cy="22860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57600" y="5074920"/>
            <a:ext cx="457200" cy="45720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50749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50292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Set Parameters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539496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Diameter, length,</a:t>
            </a:r>
            <a:br/>
            <a:r>
              <a:t>material, gauge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89320" y="5166360"/>
            <a:ext cx="320040" cy="22860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0" y="5074920"/>
            <a:ext cx="457200" cy="45720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749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50292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Generate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539496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build123d creates</a:t>
            </a:r>
            <a:br/>
            <a:r>
              <a:t>B-Rep solid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732520" y="5166360"/>
            <a:ext cx="320040" cy="22860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44000" y="5074920"/>
            <a:ext cx="457200" cy="45720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50749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50292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Place in Scene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539496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USD mesh with</a:t>
            </a:r>
            <a:br/>
            <a:r>
              <a:t>metadata + 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Components &amp; Enclosures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148840" cy="228600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1554480"/>
            <a:ext cx="640080" cy="64008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Sheet Metal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783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Flat and formed panels</a:t>
            </a:r>
            <a:br/>
            <a:r>
              <a:t>with bend allowances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371600"/>
            <a:ext cx="2148840" cy="228600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40" y="1554480"/>
            <a:ext cx="640080" cy="64008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37744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Pyramids / Hoppers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834640"/>
            <a:ext cx="1783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Funnel geometry with</a:t>
            </a:r>
            <a:br/>
            <a:r>
              <a:t>parametric fillets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371600"/>
            <a:ext cx="2148840" cy="228600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0" y="1554480"/>
            <a:ext cx="640080" cy="64008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37744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Screen Guards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834640"/>
            <a:ext cx="1783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Perforated protective</a:t>
            </a:r>
            <a:br/>
            <a:r>
              <a:t>enclosures and covers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371600"/>
            <a:ext cx="2148840" cy="228600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AA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83880" y="1554480"/>
            <a:ext cx="640080" cy="640080"/>
          </a:xfrm>
          <a:prstGeom prst="ellipse">
            <a:avLst/>
          </a:prstGeom>
          <a:solidFill>
            <a:srgbClr val="AA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37744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Stairs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834640"/>
            <a:ext cx="1783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Code-compliant geometry</a:t>
            </a:r>
            <a:br/>
            <a:r>
              <a:t>rise / run / width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1371600"/>
            <a:ext cx="2148840" cy="228600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FF66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0" y="1554480"/>
            <a:ext cx="640080" cy="640080"/>
          </a:xfrm>
          <a:prstGeom prst="ellipse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237744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Construction Cubes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834640"/>
            <a:ext cx="1783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Modular enclosure</a:t>
            </a:r>
            <a:br/>
            <a:r>
              <a:t>building blocks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14800"/>
            <a:ext cx="11064240" cy="237744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976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76B900"/>
                </a:solidFill>
                <a:latin typeface="Segoe UI"/>
              </a:defRPr>
            </a:pPr>
            <a:r>
              <a:t>Every Component Is Fully Parametric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463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Dimension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Adjust height, width, thickness,</a:t>
            </a:r>
            <a:br/>
            <a:r>
              <a:t>angles — regenerate in real-time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8463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Metadata-Rich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2120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Every prim carries generator type</a:t>
            </a:r>
            <a:br/>
            <a:r>
              <a:t>and parameters for BOM extraction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8463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Material Assignment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2120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UsdPreviewSurface materials applied</a:t>
            </a:r>
            <a:br/>
            <a:r>
              <a:t>automatically — steel, aluminum, etc.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8463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Regeneration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2120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Change any parameter later —</a:t>
            </a:r>
            <a:br/>
            <a:r>
              <a:t>geometry rebuilds, connections preserved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Equipment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Segoe UI"/>
              </a:defRPr>
            </a:pPr>
            <a:r>
              <a:t>Industrial Equipment Intelligence Platform (IEIP)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3444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6858000" cy="4846320"/>
          </a:xfrm>
          <a:prstGeom prst="roundRect">
            <a:avLst/>
          </a:prstGeom>
          <a:solidFill>
            <a:srgbClr val="2A2A3E"/>
          </a:solidFill>
          <a:ln w="19050">
            <a:solidFill>
              <a:srgbClr val="88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6858000" cy="411480"/>
          </a:xfrm>
          <a:prstGeom prst="rect">
            <a:avLst/>
          </a:prstGeom>
          <a:solidFill>
            <a:srgbClr val="33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BBBCC"/>
                </a:solidFill>
                <a:latin typeface="Consolas"/>
              </a:defRPr>
            </a:pPr>
            <a:r>
              <a:t>Equipment Catalog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2103120" cy="4206240"/>
          </a:xfrm>
          <a:prstGeom prst="roundRect">
            <a:avLst/>
          </a:prstGeom>
          <a:solidFill>
            <a:srgbClr val="1A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76B900"/>
                </a:solidFill>
                <a:latin typeface="Consolas"/>
              </a:defRPr>
            </a:pPr>
            <a:r>
              <a:t>  Structural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    Wide Flange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    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    HSS Tube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76B900"/>
                </a:solidFill>
                <a:latin typeface="Consolas"/>
              </a:defRPr>
            </a:pPr>
            <a:r>
              <a:t>  MEP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49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    Ductwork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    Trapeze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76B900"/>
                </a:solidFill>
                <a:latin typeface="Consolas"/>
              </a:defRPr>
            </a:pPr>
            <a:r>
              <a:t> 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    Sheet Metal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    Pyramid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    Screen Guard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692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    Stairs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2057400"/>
            <a:ext cx="4114800" cy="4206240"/>
          </a:xfrm>
          <a:prstGeom prst="roundRect">
            <a:avLst/>
          </a:prstGeom>
          <a:solidFill>
            <a:srgbClr val="1A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2148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76B900"/>
                </a:solidFill>
                <a:latin typeface="Consolas"/>
              </a:defRPr>
            </a:pPr>
            <a:r>
              <a:t>Wide Flange Parameters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26060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onsolas"/>
              </a:defRPr>
            </a:pPr>
            <a:r>
              <a:t>Section Size: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2606040"/>
            <a:ext cx="2011680" cy="292608"/>
          </a:xfrm>
          <a:prstGeom prst="roundRect">
            <a:avLst/>
          </a:prstGeom>
          <a:solidFill>
            <a:srgbClr val="22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262432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W12x26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3063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onsolas"/>
              </a:defRPr>
            </a:pPr>
            <a:r>
              <a:t>Length: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3063240"/>
            <a:ext cx="2011680" cy="292608"/>
          </a:xfrm>
          <a:prstGeom prst="roundRect">
            <a:avLst/>
          </a:prstGeom>
          <a:solidFill>
            <a:srgbClr val="22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308152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180.0 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35204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onsolas"/>
              </a:defRPr>
            </a:pPr>
            <a:r>
              <a:t>Material: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3520440"/>
            <a:ext cx="2011680" cy="292608"/>
          </a:xfrm>
          <a:prstGeom prst="roundRect">
            <a:avLst/>
          </a:prstGeom>
          <a:solidFill>
            <a:srgbClr val="22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53872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A992 Steel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39776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onsolas"/>
              </a:defRPr>
            </a:pPr>
            <a:r>
              <a:t>Detail Level: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3977640"/>
            <a:ext cx="2011680" cy="292608"/>
          </a:xfrm>
          <a:prstGeom prst="roundRect">
            <a:avLst/>
          </a:prstGeom>
          <a:solidFill>
            <a:srgbClr val="22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399592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PARAMETRIC (2)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4800600"/>
            <a:ext cx="1645920" cy="411480"/>
          </a:xfrm>
          <a:prstGeom prst="round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480060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Place in Scene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15544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Key Capabilities</a:t>
            </a:r>
          </a:p>
        </p:txBody>
      </p:sp>
      <p:sp>
        <p:nvSpPr>
          <p:cNvPr id="39" name="Oval 38"/>
          <p:cNvSpPr/>
          <p:nvPr/>
        </p:nvSpPr>
        <p:spPr>
          <a:xfrm>
            <a:off x="7772400" y="2148840"/>
            <a:ext cx="109728" cy="10972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21031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Unified Browser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237744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Browse all equipment types</a:t>
            </a:r>
            <a:br/>
            <a:r>
              <a:t>in one searchable interface</a:t>
            </a:r>
          </a:p>
        </p:txBody>
      </p:sp>
      <p:sp>
        <p:nvSpPr>
          <p:cNvPr id="42" name="Oval 41"/>
          <p:cNvSpPr/>
          <p:nvPr/>
        </p:nvSpPr>
        <p:spPr>
          <a:xfrm>
            <a:off x="7772400" y="3017520"/>
            <a:ext cx="109728" cy="10972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2971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Parameter Control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324612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Adjust every dimension</a:t>
            </a:r>
            <a:br/>
            <a:r>
              <a:t>before placement</a:t>
            </a:r>
          </a:p>
        </p:txBody>
      </p:sp>
      <p:sp>
        <p:nvSpPr>
          <p:cNvPr id="45" name="Oval 44"/>
          <p:cNvSpPr/>
          <p:nvPr/>
        </p:nvSpPr>
        <p:spPr>
          <a:xfrm>
            <a:off x="7772400" y="3886200"/>
            <a:ext cx="109728" cy="10972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3840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Progressive Detail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411480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4 LOD levels: placeholder</a:t>
            </a:r>
            <a:br/>
            <a:r>
              <a:t>through fully detailed</a:t>
            </a:r>
          </a:p>
        </p:txBody>
      </p:sp>
      <p:sp>
        <p:nvSpPr>
          <p:cNvPr id="48" name="Oval 47"/>
          <p:cNvSpPr/>
          <p:nvPr/>
        </p:nvSpPr>
        <p:spPr>
          <a:xfrm>
            <a:off x="7772400" y="4754880"/>
            <a:ext cx="109728" cy="10972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01000" y="47091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Spec Import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498348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Paste manufacturer JSON</a:t>
            </a:r>
            <a:br/>
            <a:r>
              <a:t>to create custom equipment</a:t>
            </a:r>
          </a:p>
        </p:txBody>
      </p:sp>
      <p:sp>
        <p:nvSpPr>
          <p:cNvPr id="51" name="Oval 50"/>
          <p:cNvSpPr/>
          <p:nvPr/>
        </p:nvSpPr>
        <p:spPr>
          <a:xfrm>
            <a:off x="7772400" y="5623560"/>
            <a:ext cx="109728" cy="10972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01000" y="55778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Assembly Templates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585216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Multi-component systems</a:t>
            </a:r>
            <a:br/>
            <a:r>
              <a:t>from JSON definitions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Progressive Detail Levels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Segoe UI"/>
              </a:defRPr>
            </a:pPr>
            <a:r>
              <a:t>Right level of detail for every project phase — from concept to construction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697480" cy="3657600"/>
          </a:xfrm>
          <a:prstGeom prst="roundRect">
            <a:avLst/>
          </a:prstGeom>
          <a:solidFill>
            <a:srgbClr val="444466"/>
          </a:solidFill>
          <a:ln w="19050">
            <a:solidFill>
              <a:srgbClr val="88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914400" cy="365760"/>
          </a:xfrm>
          <a:prstGeom prst="round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Level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888899"/>
                </a:solidFill>
                <a:latin typeface="Segoe UI"/>
              </a:defRPr>
            </a:pPr>
            <a:r>
              <a:t>PLACEHOLDER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Simple bounding box</a:t>
            </a:r>
            <a:br/>
            <a:r>
              <a:t>for space planning</a:t>
            </a:r>
            <a:br/>
            <a:r>
              <a:t>and early layout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389120"/>
            <a:ext cx="1554480" cy="914400"/>
          </a:xfrm>
          <a:prstGeom prst="round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3337560" y="3474720"/>
            <a:ext cx="228600" cy="18288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011680"/>
            <a:ext cx="2697480" cy="3657600"/>
          </a:xfrm>
          <a:prstGeom prst="roundRect">
            <a:avLst/>
          </a:prstGeom>
          <a:solidFill>
            <a:srgbClr val="334455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11880" y="2194560"/>
            <a:ext cx="914400" cy="36576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19456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Level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743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BCD4"/>
                </a:solidFill>
                <a:latin typeface="Segoe UI"/>
              </a:defRPr>
            </a:pPr>
            <a:r>
              <a:t>SCHEMATIC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20040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Simplified outline</a:t>
            </a:r>
            <a:br/>
            <a:r>
              <a:t>for design reviews</a:t>
            </a:r>
            <a:br/>
            <a:r>
              <a:t>and coordination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4389120"/>
            <a:ext cx="1737360" cy="914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69080" y="4526280"/>
            <a:ext cx="457200" cy="64008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17720" y="4617720"/>
            <a:ext cx="822960" cy="45720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6217920" y="3474720"/>
            <a:ext cx="228600" cy="18288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2011680"/>
            <a:ext cx="2697480" cy="3657600"/>
          </a:xfrm>
          <a:prstGeom prst="roundRect">
            <a:avLst/>
          </a:prstGeom>
          <a:solidFill>
            <a:srgbClr val="2A3A1A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0" y="2194560"/>
            <a:ext cx="914400" cy="365760"/>
          </a:xfrm>
          <a:prstGeom prst="round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19456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Level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743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76B900"/>
                </a:solidFill>
                <a:latin typeface="Segoe UI"/>
              </a:defRPr>
            </a:pPr>
            <a:r>
              <a:t>PARAMETRIC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20040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Full geometry from</a:t>
            </a:r>
            <a:br/>
            <a:r>
              <a:t>specifications — the</a:t>
            </a:r>
            <a:br/>
            <a:r>
              <a:t>primary working level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4389120"/>
            <a:ext cx="1737360" cy="914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0" y="4480560"/>
            <a:ext cx="457200" cy="731520"/>
          </a:xfrm>
          <a:prstGeom prst="round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60920" y="4572000"/>
            <a:ext cx="1005840" cy="548640"/>
          </a:xfrm>
          <a:prstGeom prst="round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06640" y="4617720"/>
            <a:ext cx="274320" cy="457200"/>
          </a:xfrm>
          <a:prstGeom prst="roundRect">
            <a:avLst/>
          </a:prstGeom>
          <a:solidFill>
            <a:srgbClr val="2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9098280" y="3474720"/>
            <a:ext cx="228600" cy="18288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89720" y="2011680"/>
            <a:ext cx="2697480" cy="3657600"/>
          </a:xfrm>
          <a:prstGeom prst="roundRect">
            <a:avLst/>
          </a:prstGeom>
          <a:solidFill>
            <a:srgbClr val="3A2A1A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72600" y="2194560"/>
            <a:ext cx="914400" cy="36576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219456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Level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743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  <a:latin typeface="Segoe UI"/>
              </a:defRPr>
            </a:pPr>
            <a:r>
              <a:t>DETAILED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320040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Cosmetic details:</a:t>
            </a:r>
            <a:br/>
            <a:r>
              <a:t>fillets, threads, labels</a:t>
            </a:r>
            <a:br/>
            <a:r>
              <a:t>for final deliverables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46920" y="4389120"/>
            <a:ext cx="1737360" cy="914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38360" y="4480560"/>
            <a:ext cx="457200" cy="73152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241280" y="4526280"/>
            <a:ext cx="1005840" cy="64008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287000" y="4572000"/>
            <a:ext cx="274320" cy="548640"/>
          </a:xfrm>
          <a:prstGeom prst="roundRect">
            <a:avLst/>
          </a:prstGeom>
          <a:solidFill>
            <a:srgbClr val="3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84080" y="4526280"/>
            <a:ext cx="137160" cy="13716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607040" y="4983480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27080" y="4526280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Assembly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Segoe UI"/>
              </a:defRPr>
            </a:pPr>
            <a:r>
              <a:t>Multi-component systems from JSON templates — define once, place anywhere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474720" cy="411480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76B900"/>
                </a:solidFill>
                <a:latin typeface="Segoe UI"/>
              </a:defRPr>
            </a:pPr>
            <a:r>
              <a:t>JSON Template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3108960" cy="320040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"assembly_id": "trapeze_run"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"components": [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{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"entry_id": "trapeze"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"params": { "span": 48 }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"ports": ["top_left"]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},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{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"entry_id": "wide_flange"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"params": { "size": "W8x18" }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"mate_to": { port: "top_left" }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]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4800" y="3840480"/>
            <a:ext cx="640080" cy="4572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46320" y="2011680"/>
            <a:ext cx="2926080" cy="411480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14884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CD4"/>
                </a:solidFill>
                <a:latin typeface="Segoe UI"/>
              </a:defRPr>
            </a:pPr>
            <a:r>
              <a:t>Assembly Builder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7432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200">
                <a:solidFill>
                  <a:srgbClr val="BBBBCC"/>
                </a:solidFill>
                <a:latin typeface="Segoe UI"/>
              </a:defRPr>
            </a:pPr>
            <a:r>
              <a:t>1. Look up each component</a:t>
            </a:r>
            <a:br/>
            <a:r>
              <a:t>   in equipment registry</a:t>
            </a:r>
          </a:p>
          <a:p>
            <a:pPr algn="l">
              <a:spcAft>
                <a:spcPts val="800"/>
              </a:spcAft>
              <a:defRPr sz="1200">
                <a:solidFill>
                  <a:srgbClr val="BBBBCC"/>
                </a:solidFill>
                <a:latin typeface="Segoe UI"/>
              </a:defRPr>
            </a:pPr>
            <a:r>
              <a:t>2. Invoke generator with</a:t>
            </a:r>
            <a:br/>
            <a:r>
              <a:t>   specified parameters</a:t>
            </a:r>
          </a:p>
          <a:p>
            <a:pPr algn="l">
              <a:spcAft>
                <a:spcPts val="800"/>
              </a:spcAft>
              <a:defRPr sz="1200">
                <a:solidFill>
                  <a:srgbClr val="BBBBCC"/>
                </a:solidFill>
                <a:latin typeface="Segoe UI"/>
              </a:defRPr>
            </a:pPr>
            <a:r>
              <a:t>3. Resolve mating ports —</a:t>
            </a:r>
            <a:br/>
            <a:r>
              <a:t>   align positions + normals</a:t>
            </a:r>
          </a:p>
          <a:p>
            <a:pPr algn="l">
              <a:spcAft>
                <a:spcPts val="800"/>
              </a:spcAft>
              <a:defRPr sz="1200">
                <a:solidFill>
                  <a:srgbClr val="BBBBCC"/>
                </a:solidFill>
                <a:latin typeface="Segoe UI"/>
              </a:defRPr>
            </a:pPr>
            <a:r>
              <a:t>4. Group all components</a:t>
            </a:r>
            <a:br/>
            <a:r>
              <a:t>   under parent Xform prim</a:t>
            </a:r>
          </a:p>
          <a:p>
            <a:pPr algn="l">
              <a:spcAft>
                <a:spcPts val="800"/>
              </a:spcAft>
              <a:defRPr sz="1200">
                <a:solidFill>
                  <a:srgbClr val="BBBBCC"/>
                </a:solidFill>
                <a:latin typeface="Segoe UI"/>
              </a:defRPr>
            </a:pPr>
            <a:r>
              <a:t>5. Write assembly metadata</a:t>
            </a:r>
            <a:br/>
            <a:r>
              <a:t>   to USD custom data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63840" y="3840480"/>
            <a:ext cx="640080" cy="457200"/>
          </a:xfrm>
          <a:prstGeom prst="rightArrow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0" y="2011680"/>
            <a:ext cx="3200400" cy="411480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14884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  <a:latin typeface="Segoe UI"/>
              </a:defRPr>
            </a:pPr>
            <a:r>
              <a:t>USD Scene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74320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/World/TrapezRun  (Xform)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/Trapeze_001  (Mesh)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twin:generator = trapeze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twin:param:span = 48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twin:is_port = top_left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/WFlange_001  (Mesh)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twin:generator = wide_flange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twin:param:size = W8x18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twin:mated_to = top_left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assembly_metadata</a:t>
            </a:r>
          </a:p>
          <a:p>
            <a:pPr algn="l">
              <a:spcAft>
                <a:spcPts val="2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ieip:assembly_id = trapeze_run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TripoSR — Image to 3D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Segoe UI"/>
              </a:defRPr>
            </a:pPr>
            <a:r>
              <a:t>Upload a photo of any equipment — get a 3D mesh in ~10 seconds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560320" cy="210312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640080" cy="320040"/>
          </a:xfrm>
          <a:prstGeom prst="round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Photo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Upload any</a:t>
            </a:r>
            <a:br/>
            <a:r>
              <a:t>equipment image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00400" y="2926080"/>
            <a:ext cx="228600" cy="18288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2011680"/>
            <a:ext cx="2560320" cy="210312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2194560"/>
            <a:ext cx="640080" cy="32004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194560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9748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TripoSR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0896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FastAPI on localhost</a:t>
            </a:r>
            <a:br/>
            <a:r>
              <a:t>PyTorch + CUDA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126480" y="2926080"/>
            <a:ext cx="228600" cy="18288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2011680"/>
            <a:ext cx="2560320" cy="210312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0" y="2194560"/>
            <a:ext cx="640080" cy="32004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194560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OBJ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9748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3D Mesh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10896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OBJ mesh output</a:t>
            </a:r>
            <a:br/>
            <a:r>
              <a:t>~5.8 MB typical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052560" y="2926080"/>
            <a:ext cx="228600" cy="18288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26880" y="2011680"/>
            <a:ext cx="2560320" cy="210312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AA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09760" y="2194560"/>
            <a:ext cx="640080" cy="320040"/>
          </a:xfrm>
          <a:prstGeom prst="roundRect">
            <a:avLst/>
          </a:prstGeom>
          <a:solidFill>
            <a:srgbClr val="AA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194560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69748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USD Scene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10896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Imported via</a:t>
            </a:r>
            <a:br/>
            <a:r>
              <a:t>mesh_importer.py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480560"/>
            <a:ext cx="11064240" cy="201168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634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2064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76B900"/>
                </a:solidFill>
                <a:latin typeface="Segoe UI"/>
              </a:defRPr>
            </a:pPr>
            <a:r>
              <a:t>~10s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23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Total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12064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00BCD4"/>
                </a:solidFill>
                <a:latin typeface="Segoe UI"/>
              </a:defRPr>
            </a:pPr>
            <a:r>
              <a:t>5.4s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623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Model load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12064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  <a:latin typeface="Segoe UI"/>
              </a:defRPr>
            </a:pPr>
            <a:r>
              <a:t>1.7s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623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Inference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512064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AA77FF"/>
                </a:solidFill>
                <a:latin typeface="Segoe UI"/>
              </a:defRPr>
            </a:pPr>
            <a:r>
              <a:t>2.4s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623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Mesh extraction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1206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Hardware Requirements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4406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>
                <a:solidFill>
                  <a:srgbClr val="BBBBCC"/>
                </a:solidFill>
                <a:latin typeface="Segoe UI"/>
              </a:defRPr>
            </a:pPr>
            <a:r>
              <a:t>NVIDIA RTX GPU (12 GB+ VRAM)</a:t>
            </a:r>
          </a:p>
          <a:p>
            <a:pPr algn="l">
              <a:spcAft>
                <a:spcPts val="300"/>
              </a:spcAft>
              <a:defRPr sz="1200">
                <a:solidFill>
                  <a:srgbClr val="BBBBCC"/>
                </a:solidFill>
                <a:latin typeface="Segoe UI"/>
              </a:defRPr>
            </a:pPr>
            <a:r>
              <a:t>PyTorch 2.5.1 + CUDA 12.1</a:t>
            </a:r>
          </a:p>
          <a:p>
            <a:pPr algn="l">
              <a:spcAft>
                <a:spcPts val="300"/>
              </a:spcAft>
              <a:defRPr sz="1200">
                <a:solidFill>
                  <a:srgbClr val="BBBBCC"/>
                </a:solidFill>
                <a:latin typeface="Segoe UI"/>
              </a:defRPr>
            </a:pPr>
            <a:r>
              <a:t>Model weights: ~1.68 GB (one-time download)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Import &amp; Export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475488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76B900"/>
                </a:solidFill>
                <a:latin typeface="Segoe UI"/>
              </a:defRPr>
            </a:pPr>
            <a:r>
              <a:t>Import Pipelines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1188720" cy="365760"/>
          </a:xfrm>
          <a:prstGeom prst="round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/ STP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03120" y="2331720"/>
            <a:ext cx="365760" cy="27432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24028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Engineering CAD files via OpenCascade</a:t>
            </a:r>
            <a:br/>
            <a:r>
              <a:t>Preserves assembly structure as USD hierarchy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74720"/>
            <a:ext cx="1188720" cy="36576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OBJ / FBX / glTF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103120" y="3520440"/>
            <a:ext cx="365760" cy="274320"/>
          </a:xfrm>
          <a:prstGeom prst="rightArrow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4290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Mesh files via mesh_importer.py</a:t>
            </a:r>
            <a:br/>
            <a:r>
              <a:t>Vertex + face extraction to UsdGeom.Mesh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63440"/>
            <a:ext cx="1188720" cy="36576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Image → 3D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03120" y="4709160"/>
            <a:ext cx="365760" cy="274320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461772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Any photo via TripoSR AI</a:t>
            </a:r>
            <a:br/>
            <a:r>
              <a:t>Generates OBJ mesh, imports to USD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5394960" cy="475488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6459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9900"/>
                </a:solidFill>
                <a:latin typeface="Segoe UI"/>
              </a:defRPr>
            </a:pPr>
            <a:r>
              <a:t>Export Pipelines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2286000"/>
            <a:ext cx="1371600" cy="36576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2860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Export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955279" y="2331720"/>
            <a:ext cx="365760" cy="274320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224028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Re-invoke generator with stored metadata</a:t>
            </a:r>
            <a:br/>
            <a:r>
              <a:t>build123d solid → OCC STEP writer → .STEP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474720"/>
            <a:ext cx="1371600" cy="365760"/>
          </a:xfrm>
          <a:prstGeom prst="round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7472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USD Native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55279" y="3520440"/>
            <a:ext cx="365760" cy="27432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42900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Standard Omniverse output</a:t>
            </a:r>
            <a:br/>
            <a:r>
              <a:t>Shareable via Nucleus server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663440"/>
            <a:ext cx="1371600" cy="365760"/>
          </a:xfrm>
          <a:prstGeom prst="roundRect">
            <a:avLst/>
          </a:prstGeom>
          <a:solidFill>
            <a:srgbClr val="AA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66344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BOM Extract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955279" y="4709160"/>
            <a:ext cx="365760" cy="274320"/>
          </a:xfrm>
          <a:prstGeom prst="rightArrow">
            <a:avLst/>
          </a:prstGeom>
          <a:solidFill>
            <a:srgbClr val="AA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46177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Bill of Materials from prim metadata</a:t>
            </a:r>
            <a:br/>
            <a:r>
              <a:t>JSON output for procurement systems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486400"/>
            <a:ext cx="11064240" cy="640080"/>
          </a:xfrm>
          <a:prstGeom prst="roundRect">
            <a:avLst/>
          </a:prstGeom>
          <a:solidFill>
            <a:srgbClr val="2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53212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76B900"/>
                </a:solidFill>
                <a:latin typeface="Segoe UI"/>
              </a:defRPr>
            </a:pPr>
            <a:r>
              <a:t>Full round-trip:  STEP → USD (edit parametrically) → STEP   — no data loss, metadata preserved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Mating &amp; Connections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Segoe UI"/>
              </a:defRPr>
            </a:pPr>
            <a:r>
              <a:t>Snap components together at defined anchor points — connections survive regeneration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3657600" cy="228600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Segoe UI"/>
              </a:defRPr>
            </a:pPr>
            <a:r>
              <a:t>Component A — Trapeze Hanger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017520"/>
            <a:ext cx="2743200" cy="137160"/>
          </a:xfrm>
          <a:prstGeom prst="rect">
            <a:avLst/>
          </a:prstGeom>
          <a:solidFill>
            <a:srgbClr val="BBB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0" y="2926080"/>
            <a:ext cx="73152" cy="1097280"/>
          </a:xfrm>
          <a:prstGeom prst="rect">
            <a:avLst/>
          </a:prstGeom>
          <a:solidFill>
            <a:srgbClr val="BBB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9039" y="2926080"/>
            <a:ext cx="73152" cy="1097280"/>
          </a:xfrm>
          <a:prstGeom prst="rect">
            <a:avLst/>
          </a:prstGeom>
          <a:solidFill>
            <a:srgbClr val="BBB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54480" y="2880360"/>
            <a:ext cx="182880" cy="182880"/>
          </a:xfrm>
          <a:prstGeom prst="ellipse">
            <a:avLst/>
          </a:prstGeom>
          <a:solidFill>
            <a:srgbClr val="FF99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F9900"/>
                </a:solidFill>
                <a:latin typeface="Consolas"/>
              </a:defRPr>
            </a:pPr>
            <a:r>
              <a:t>top_left</a:t>
            </a:r>
          </a:p>
        </p:txBody>
      </p:sp>
      <p:sp>
        <p:nvSpPr>
          <p:cNvPr id="13" name="Oval 12"/>
          <p:cNvSpPr/>
          <p:nvPr/>
        </p:nvSpPr>
        <p:spPr>
          <a:xfrm>
            <a:off x="3703320" y="2880360"/>
            <a:ext cx="182880" cy="182880"/>
          </a:xfrm>
          <a:prstGeom prst="ellipse">
            <a:avLst/>
          </a:prstGeom>
          <a:solidFill>
            <a:srgbClr val="FF99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3108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F9900"/>
                </a:solidFill>
                <a:latin typeface="Consolas"/>
              </a:defRPr>
            </a:pPr>
            <a:r>
              <a:t>top_right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971800"/>
            <a:ext cx="1371600" cy="2743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3200400"/>
            <a:ext cx="1371600" cy="2743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32461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F9900"/>
                </a:solidFill>
                <a:latin typeface="Segoe UI"/>
              </a:defRPr>
            </a:pPr>
            <a:r>
              <a:t>mate 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286000"/>
            <a:ext cx="5029200" cy="228600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4688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BCD4"/>
                </a:solidFill>
                <a:latin typeface="Segoe UI"/>
              </a:defRPr>
            </a:pPr>
            <a:r>
              <a:t>Component B — W-Beam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3017520"/>
            <a:ext cx="4114800" cy="109728"/>
          </a:xfrm>
          <a:prstGeom prst="rect">
            <a:avLst/>
          </a:prstGeom>
          <a:solidFill>
            <a:srgbClr val="BBB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3017520"/>
            <a:ext cx="73152" cy="914400"/>
          </a:xfrm>
          <a:prstGeom prst="rect">
            <a:avLst/>
          </a:prstGeom>
          <a:solidFill>
            <a:srgbClr val="BBB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0" y="3840480"/>
            <a:ext cx="4114800" cy="109728"/>
          </a:xfrm>
          <a:prstGeom prst="rect">
            <a:avLst/>
          </a:prstGeom>
          <a:solidFill>
            <a:srgbClr val="BBB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20840" y="2926080"/>
            <a:ext cx="182880" cy="182880"/>
          </a:xfrm>
          <a:prstGeom prst="ellipse">
            <a:avLst/>
          </a:prstGeom>
          <a:solidFill>
            <a:srgbClr val="FF99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937760"/>
            <a:ext cx="11064240" cy="1554480"/>
          </a:xfrm>
          <a:prstGeom prst="round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How Port-Based Mating Works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440680"/>
            <a:ext cx="457200" cy="45720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406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3949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Define 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66928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Generators declare anchor</a:t>
            </a:r>
            <a:br/>
            <a:r>
              <a:t>points with position + normal</a:t>
            </a:r>
          </a:p>
        </p:txBody>
      </p:sp>
      <p:sp>
        <p:nvSpPr>
          <p:cNvPr id="30" name="Oval 29"/>
          <p:cNvSpPr/>
          <p:nvPr/>
        </p:nvSpPr>
        <p:spPr>
          <a:xfrm>
            <a:off x="3657600" y="5440680"/>
            <a:ext cx="457200" cy="45720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54406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3949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Select Mate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66928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User picks source port</a:t>
            </a:r>
            <a:br/>
            <a:r>
              <a:t>on component A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5440680"/>
            <a:ext cx="457200" cy="45720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4406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3949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Align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66928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System computes transform</a:t>
            </a:r>
            <a:br/>
            <a:r>
              <a:t>to align port positions</a:t>
            </a:r>
          </a:p>
        </p:txBody>
      </p:sp>
      <p:sp>
        <p:nvSpPr>
          <p:cNvPr id="38" name="Oval 37"/>
          <p:cNvSpPr/>
          <p:nvPr/>
        </p:nvSpPr>
        <p:spPr>
          <a:xfrm>
            <a:off x="9144000" y="5440680"/>
            <a:ext cx="457200" cy="45720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54406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53949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Connect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566928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Metadata records connection</a:t>
            </a:r>
            <a:br/>
            <a:r>
              <a:t>survives regen / edit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End-to-End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743200"/>
            <a:ext cx="9601200" cy="36576"/>
          </a:xfrm>
          <a:prstGeom prst="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542032"/>
            <a:ext cx="411480" cy="41148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542032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737360" cy="201168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Segoe UI"/>
              </a:defRPr>
            </a:pPr>
            <a:r>
              <a:t>Open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1463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Launch Equipment Catalog</a:t>
            </a:r>
            <a:br/>
            <a:r>
              <a:t>from Tools menu</a:t>
            </a:r>
          </a:p>
        </p:txBody>
      </p:sp>
      <p:sp>
        <p:nvSpPr>
          <p:cNvPr id="11" name="Oval 10"/>
          <p:cNvSpPr/>
          <p:nvPr/>
        </p:nvSpPr>
        <p:spPr>
          <a:xfrm>
            <a:off x="3200399" y="2542032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399" y="2542032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39" y="3200400"/>
            <a:ext cx="1737360" cy="201168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199" y="33375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BCD4"/>
                </a:solidFill>
                <a:latin typeface="Segoe UI"/>
              </a:defRPr>
            </a:pPr>
            <a:r>
              <a:t>Browse &amp; Configure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199" y="3749039"/>
            <a:ext cx="1463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Select equipment type,</a:t>
            </a:r>
            <a:br/>
            <a:r>
              <a:t>adjust parameters</a:t>
            </a:r>
          </a:p>
        </p:txBody>
      </p:sp>
      <p:sp>
        <p:nvSpPr>
          <p:cNvPr id="16" name="Oval 15"/>
          <p:cNvSpPr/>
          <p:nvPr/>
        </p:nvSpPr>
        <p:spPr>
          <a:xfrm>
            <a:off x="5074918" y="2542032"/>
            <a:ext cx="411480" cy="41148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18" y="2542032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8" y="3200400"/>
            <a:ext cx="1737360" cy="201168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18" y="33375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Place in Scene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18" y="3749039"/>
            <a:ext cx="1463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One-click placement</a:t>
            </a:r>
            <a:br/>
            <a:r>
              <a:t>as USD prim</a:t>
            </a:r>
          </a:p>
        </p:txBody>
      </p:sp>
      <p:sp>
        <p:nvSpPr>
          <p:cNvPr id="21" name="Oval 20"/>
          <p:cNvSpPr/>
          <p:nvPr/>
        </p:nvSpPr>
        <p:spPr>
          <a:xfrm>
            <a:off x="6949437" y="2542032"/>
            <a:ext cx="411480" cy="411480"/>
          </a:xfrm>
          <a:prstGeom prst="ellipse">
            <a:avLst/>
          </a:prstGeom>
          <a:solidFill>
            <a:srgbClr val="AA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37" y="2542032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7" y="3200400"/>
            <a:ext cx="1737360" cy="201168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AA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37" y="33375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AA77FF"/>
                </a:solidFill>
                <a:latin typeface="Segoe UI"/>
              </a:defRPr>
            </a:pPr>
            <a:r>
              <a:t>Mate Components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37" y="3749039"/>
            <a:ext cx="1463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Snap structural + MEP</a:t>
            </a:r>
            <a:br/>
            <a:r>
              <a:t>at anchor ports</a:t>
            </a:r>
          </a:p>
        </p:txBody>
      </p:sp>
      <p:sp>
        <p:nvSpPr>
          <p:cNvPr id="26" name="Oval 25"/>
          <p:cNvSpPr/>
          <p:nvPr/>
        </p:nvSpPr>
        <p:spPr>
          <a:xfrm>
            <a:off x="8823956" y="2542032"/>
            <a:ext cx="411480" cy="411480"/>
          </a:xfrm>
          <a:prstGeom prst="ellipse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56" y="2542032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596" y="3200400"/>
            <a:ext cx="1737360" cy="201168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FF66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56" y="33375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6699"/>
                </a:solidFill>
                <a:latin typeface="Segoe UI"/>
              </a:defRPr>
            </a:pPr>
            <a:r>
              <a:t>Apply Materials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6" y="3749039"/>
            <a:ext cx="1463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Assign materials via</a:t>
            </a:r>
            <a:br/>
            <a:r>
              <a:t>Style Editor</a:t>
            </a:r>
          </a:p>
        </p:txBody>
      </p:sp>
      <p:sp>
        <p:nvSpPr>
          <p:cNvPr id="31" name="Oval 30"/>
          <p:cNvSpPr/>
          <p:nvPr/>
        </p:nvSpPr>
        <p:spPr>
          <a:xfrm>
            <a:off x="10698475" y="2542032"/>
            <a:ext cx="411480" cy="41148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75" y="2542032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15" y="3200400"/>
            <a:ext cx="1737360" cy="201168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75" y="33375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Segoe UI"/>
              </a:defRPr>
            </a:pPr>
            <a:r>
              <a:t>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75" y="3749039"/>
            <a:ext cx="1463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Extract BOM, export</a:t>
            </a:r>
            <a:br/>
            <a:r>
              <a:t>STEP or share USD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577840"/>
            <a:ext cx="11064240" cy="914400"/>
          </a:xfrm>
          <a:prstGeom prst="roundRect">
            <a:avLst/>
          </a:prstGeom>
          <a:solidFill>
            <a:srgbClr val="2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Segoe UI"/>
              </a:defRPr>
            </a:pPr>
            <a:r>
              <a:t>Complete facility layout from manufacturer specifications — no CAD software, no manual modeling.</a:t>
            </a:r>
            <a:br/>
            <a:r>
              <a:t>Every object is parametric, metadata-rich, and ready for BOM extraction.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481328"/>
            <a:ext cx="201168" cy="20116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4173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173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Segoe UI"/>
              </a:defRPr>
            </a:pPr>
            <a:r>
              <a:t>NVIDIA Omniverse Kit 106+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984248"/>
            <a:ext cx="201168" cy="201168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9202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Scene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202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Segoe UI"/>
              </a:defRPr>
            </a:pPr>
            <a:r>
              <a:t>USD (Universal Scene Description)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487168"/>
            <a:ext cx="201168" cy="20116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423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CAD Kernel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4231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Segoe UI"/>
              </a:defRPr>
            </a:pPr>
            <a:r>
              <a:t>build123d  (OpenCascade B-Rep)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2990088"/>
            <a:ext cx="201168" cy="201168"/>
          </a:xfrm>
          <a:prstGeom prst="ellipse">
            <a:avLst/>
          </a:prstGeom>
          <a:solidFill>
            <a:srgbClr val="AA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9260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GPU Compute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926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Segoe UI"/>
              </a:defRPr>
            </a:pPr>
            <a:r>
              <a:t>PyTorch 2.5.1 + CUDA 12.1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493008"/>
            <a:ext cx="201168" cy="201168"/>
          </a:xfrm>
          <a:prstGeom prst="ellipse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4290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AI Mesh 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4290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Segoe UI"/>
              </a:defRPr>
            </a:pPr>
            <a:r>
              <a:t>TripoSR (Image → 3D)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3995928"/>
            <a:ext cx="201168" cy="20116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39319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UI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931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Segoe UI"/>
              </a:defRPr>
            </a:pPr>
            <a:r>
              <a:t>omni.ui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4498848"/>
            <a:ext cx="201168" cy="201168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44348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Language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4348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Segoe UI"/>
              </a:defRPr>
            </a:pPr>
            <a:r>
              <a:t>Python 3.10+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001768"/>
            <a:ext cx="201168" cy="20116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49377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Data Formats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937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Segoe UI"/>
              </a:defRPr>
            </a:pPr>
            <a:r>
              <a:t>JSON (AISC, assemblies, specs)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4400" y="5504688"/>
            <a:ext cx="201168" cy="201168"/>
          </a:xfrm>
          <a:prstGeom prst="ellipse">
            <a:avLst/>
          </a:prstGeom>
          <a:solidFill>
            <a:srgbClr val="AA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54406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Import / Export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4406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Segoe UI"/>
              </a:defRPr>
            </a:pPr>
            <a:r>
              <a:t>STEP, OBJ, FBX, glTF</a:t>
            </a:r>
          </a:p>
        </p:txBody>
      </p:sp>
      <p:sp>
        <p:nvSpPr>
          <p:cNvPr id="37" name="Oval 36"/>
          <p:cNvSpPr/>
          <p:nvPr/>
        </p:nvSpPr>
        <p:spPr>
          <a:xfrm>
            <a:off x="914400" y="6007608"/>
            <a:ext cx="201168" cy="201168"/>
          </a:xfrm>
          <a:prstGeom prst="ellipse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5943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Hardware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9436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Segoe UI"/>
              </a:defRPr>
            </a:pPr>
            <a:r>
              <a:t>NVIDIA RTX A3000 (12 GB VRAM)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All units: inches  •  Coordinate system: Y-Up  •  All geometry: B-Rep solid modeling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475488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914400" cy="365760"/>
          </a:xfrm>
          <a:prstGeom prst="round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002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Current Release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240280"/>
            <a:ext cx="109728" cy="10972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9456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Structural steel library (AISC)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834640"/>
            <a:ext cx="109728" cy="10972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MEP ductwork &amp; trapeze hangers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429000"/>
            <a:ext cx="109728" cy="10972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8328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Equipment Catalog with IEIP registry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023360"/>
            <a:ext cx="109728" cy="10972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97764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STEP import / export pipeline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617720"/>
            <a:ext cx="109728" cy="10972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Port-based mating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371600"/>
            <a:ext cx="3566160" cy="475488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1554480"/>
            <a:ext cx="914400" cy="36576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55448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16002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 Development</a:t>
            </a:r>
          </a:p>
        </p:txBody>
      </p:sp>
      <p:sp>
        <p:nvSpPr>
          <p:cNvPr id="23" name="Oval 22"/>
          <p:cNvSpPr/>
          <p:nvPr/>
        </p:nvSpPr>
        <p:spPr>
          <a:xfrm>
            <a:off x="4663440" y="2240280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219456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TripoSR server integration (FastAPI → Kit)</a:t>
            </a:r>
          </a:p>
        </p:txBody>
      </p:sp>
      <p:sp>
        <p:nvSpPr>
          <p:cNvPr id="25" name="Oval 24"/>
          <p:cNvSpPr/>
          <p:nvPr/>
        </p:nvSpPr>
        <p:spPr>
          <a:xfrm>
            <a:off x="4663440" y="2834640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278892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Expanded equipment from manufacturer specs</a:t>
            </a:r>
          </a:p>
        </p:txBody>
      </p:sp>
      <p:sp>
        <p:nvSpPr>
          <p:cNvPr id="27" name="Oval 26"/>
          <p:cNvSpPr/>
          <p:nvPr/>
        </p:nvSpPr>
        <p:spPr>
          <a:xfrm>
            <a:off x="4663440" y="3429000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338328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Assembly template library</a:t>
            </a:r>
          </a:p>
        </p:txBody>
      </p:sp>
      <p:sp>
        <p:nvSpPr>
          <p:cNvPr id="29" name="Oval 28"/>
          <p:cNvSpPr/>
          <p:nvPr/>
        </p:nvSpPr>
        <p:spPr>
          <a:xfrm>
            <a:off x="4663440" y="4023360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397764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Enhanced BOM extraction and reporting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1371600"/>
            <a:ext cx="3566160" cy="4754880"/>
          </a:xfrm>
          <a:prstGeom prst="roundRect">
            <a:avLst/>
          </a:prstGeom>
          <a:solidFill>
            <a:srgbClr val="1C1C2E"/>
          </a:solidFill>
          <a:ln w="19050">
            <a:solidFill>
              <a:srgbClr val="AA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12480" y="1554480"/>
            <a:ext cx="914400" cy="365760"/>
          </a:xfrm>
          <a:prstGeom prst="roundRect">
            <a:avLst/>
          </a:prstGeom>
          <a:solidFill>
            <a:srgbClr val="AA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155448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Future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6002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35" name="Oval 34"/>
          <p:cNvSpPr/>
          <p:nvPr/>
        </p:nvSpPr>
        <p:spPr>
          <a:xfrm>
            <a:off x="8503920" y="2240280"/>
            <a:ext cx="109728" cy="109728"/>
          </a:xfrm>
          <a:prstGeom prst="ellipse">
            <a:avLst/>
          </a:prstGeom>
          <a:solidFill>
            <a:srgbClr val="AA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219456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Multi-user collaboration via Nucleus</a:t>
            </a:r>
          </a:p>
        </p:txBody>
      </p:sp>
      <p:sp>
        <p:nvSpPr>
          <p:cNvPr id="37" name="Oval 36"/>
          <p:cNvSpPr/>
          <p:nvPr/>
        </p:nvSpPr>
        <p:spPr>
          <a:xfrm>
            <a:off x="8503920" y="2834640"/>
            <a:ext cx="109728" cy="109728"/>
          </a:xfrm>
          <a:prstGeom prst="ellipse">
            <a:avLst/>
          </a:prstGeom>
          <a:solidFill>
            <a:srgbClr val="AA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32520" y="278892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Automated layout from P&amp;ID drawings</a:t>
            </a:r>
          </a:p>
        </p:txBody>
      </p:sp>
      <p:sp>
        <p:nvSpPr>
          <p:cNvPr id="39" name="Oval 38"/>
          <p:cNvSpPr/>
          <p:nvPr/>
        </p:nvSpPr>
        <p:spPr>
          <a:xfrm>
            <a:off x="8503920" y="3429000"/>
            <a:ext cx="109728" cy="109728"/>
          </a:xfrm>
          <a:prstGeom prst="ellipse">
            <a:avLst/>
          </a:prstGeom>
          <a:solidFill>
            <a:srgbClr val="AA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338328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Physics-based clash detection</a:t>
            </a:r>
          </a:p>
        </p:txBody>
      </p:sp>
      <p:sp>
        <p:nvSpPr>
          <p:cNvPr id="41" name="Oval 40"/>
          <p:cNvSpPr/>
          <p:nvPr/>
        </p:nvSpPr>
        <p:spPr>
          <a:xfrm>
            <a:off x="8503920" y="4023360"/>
            <a:ext cx="109728" cy="109728"/>
          </a:xfrm>
          <a:prstGeom prst="ellipse">
            <a:avLst/>
          </a:prstGeom>
          <a:solidFill>
            <a:srgbClr val="AA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32520" y="397764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Segoe UI"/>
              </a:defRPr>
            </a:pPr>
            <a:r>
              <a:t>Cloud rendering and review workflows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